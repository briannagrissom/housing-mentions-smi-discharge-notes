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65" r:id="rId12"/>
    <p:sldId id="275" r:id="rId13"/>
    <p:sldId id="266" r:id="rId14"/>
    <p:sldId id="267" r:id="rId15"/>
    <p:sldId id="276" r:id="rId16"/>
    <p:sldId id="277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74"/>
    <p:restoredTop sz="94653"/>
  </p:normalViewPr>
  <p:slideViewPr>
    <p:cSldViewPr snapToGrid="0" snapToObjects="1">
      <p:cViewPr varScale="1">
        <p:scale>
          <a:sx n="141" d="100"/>
          <a:sy n="141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 i="0" spc="400" dirty="0">
                <a:solidFill>
                  <a:srgbClr val="F6F1E6"/>
                </a:solidFill>
                <a:latin typeface="Calibri"/>
              </a:rPr>
              <a:t>AC209B   ·   MILESTONE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10058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5200" b="1" i="0">
                <a:solidFill>
                  <a:srgbClr val="F6F1E6"/>
                </a:solidFill>
                <a:latin typeface="Georgia"/>
              </a:rPr>
              <a:t>Does anyone write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515600" cy="10058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5200" b="1" i="1">
                <a:solidFill>
                  <a:srgbClr val="F6F1E6"/>
                </a:solidFill>
                <a:latin typeface="Georgia"/>
              </a:rPr>
              <a:t>where they go home to?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2743200" cy="36576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000" b="0" i="1">
                <a:solidFill>
                  <a:srgbClr val="F6F1E6"/>
                </a:solidFill>
                <a:latin typeface="Georgia"/>
              </a:rPr>
              <a:t>Housing documentation in discharge summaries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70832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000" b="0" i="1">
                <a:solidFill>
                  <a:srgbClr val="F6F1E6"/>
                </a:solidFill>
                <a:latin typeface="Georgia"/>
              </a:rPr>
              <a:t>for patients with serious mental illness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1" i="0" spc="300">
                <a:solidFill>
                  <a:srgbClr val="C2553D"/>
                </a:solidFill>
                <a:latin typeface="Calibri"/>
              </a:rP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5486400" cy="25237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 i="0" dirty="0">
                <a:solidFill>
                  <a:srgbClr val="F6F1E6"/>
                </a:solidFill>
                <a:latin typeface="Calibri"/>
              </a:rPr>
              <a:t>#63   ·   Data Processing &amp;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71500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1" i="0" spc="300">
                <a:solidFill>
                  <a:srgbClr val="C2553D"/>
                </a:solidFill>
                <a:latin typeface="Calibri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94360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 i="0">
                <a:solidFill>
                  <a:srgbClr val="F6F1E6"/>
                </a:solidFill>
                <a:latin typeface="Calibri"/>
              </a:rPr>
              <a:t>Matlin Gilman   ·   Brianna Grissom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02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0B3B44"/>
                </a:solidFill>
                <a:latin typeface="Georgia"/>
              </a:rPr>
              <a:t>Why this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486400" cy="126803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000" b="0" i="1" dirty="0">
                <a:solidFill>
                  <a:srgbClr val="0B3B44"/>
                </a:solidFill>
                <a:latin typeface="Georgia"/>
              </a:rPr>
              <a:t>When patients with serious mental illness leave the hospital, whether they have stable housing plays a huge role in whether they stay healthy or end up back in </a:t>
            </a:r>
            <a:r>
              <a:rPr sz="2000" b="0" i="1">
                <a:solidFill>
                  <a:srgbClr val="0B3B44"/>
                </a:solidFill>
                <a:latin typeface="Georgia"/>
              </a:rPr>
              <a:t>the </a:t>
            </a:r>
            <a:r>
              <a:rPr lang="en-US" sz="2000" b="0" i="1">
                <a:solidFill>
                  <a:srgbClr val="0B3B44"/>
                </a:solidFill>
                <a:latin typeface="Georgia"/>
              </a:rPr>
              <a:t>hospital</a:t>
            </a:r>
            <a:r>
              <a:rPr sz="2000" b="0" i="1">
                <a:solidFill>
                  <a:srgbClr val="0B3B44"/>
                </a:solidFill>
                <a:latin typeface="Georgia"/>
              </a:rPr>
              <a:t>.</a:t>
            </a:r>
            <a:endParaRPr sz="2000" b="0" i="1" dirty="0">
              <a:solidFill>
                <a:srgbClr val="0B3B44"/>
              </a:solidFill>
              <a:latin typeface="Georgi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" y="5120640"/>
            <a:ext cx="365760" cy="36576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THE STARTING OBSERVATION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03120"/>
            <a:ext cx="18288" cy="3383280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210312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RESEARCH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77440"/>
            <a:ext cx="4846320" cy="82176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 i="0" dirty="0">
                <a:solidFill>
                  <a:srgbClr val="0B3B44"/>
                </a:solidFill>
                <a:latin typeface="Georgia"/>
              </a:rPr>
              <a:t>Is housing mentioned in SMI discharge summaries — and do documentation rates differ by race,</a:t>
            </a:r>
            <a:r>
              <a:rPr lang="en-US" sz="1700" b="1" i="0" dirty="0">
                <a:solidFill>
                  <a:srgbClr val="0B3B44"/>
                </a:solidFill>
                <a:latin typeface="Georgia"/>
              </a:rPr>
              <a:t> gender, or</a:t>
            </a:r>
            <a:r>
              <a:rPr sz="1700" b="1" i="0" dirty="0">
                <a:solidFill>
                  <a:srgbClr val="0B3B44"/>
                </a:solidFill>
                <a:latin typeface="Georgia"/>
              </a:rPr>
              <a:t> insurance?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233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97680"/>
            <a:ext cx="4846320" cy="15216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sz="1400" dirty="0">
                <a:solidFill>
                  <a:srgbClr val="1A1A1A"/>
                </a:solidFill>
                <a:latin typeface="Calibri"/>
              </a:rPr>
              <a:t>Unstable housing drives medication non-adherence and missed follow-ups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sz="1400" dirty="0">
                <a:solidFill>
                  <a:srgbClr val="1A1A1A"/>
                </a:solidFill>
                <a:latin typeface="Calibri"/>
              </a:rPr>
              <a:t>Clinical guidelines say housing should be in the discharge plan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Without it, discharge plans can fail before the patient leaves the hospital</a:t>
            </a:r>
            <a:endParaRPr sz="140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03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0B3B44"/>
                </a:solidFill>
                <a:latin typeface="Georgia"/>
              </a:rPr>
              <a:t>Three datasets, three jobs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3657600" cy="4023360"/>
          </a:xfrm>
          <a:prstGeom prst="rect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377440"/>
            <a:ext cx="502920" cy="50292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6F1E6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1" i="0">
                <a:solidFill>
                  <a:srgbClr val="0B3B44"/>
                </a:solidFill>
                <a:latin typeface="Georgia"/>
              </a:rPr>
              <a:t>MIMIC-IV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Structured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3200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admissions, patients, diagnoses_icd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Demographics, insurance, ICD codes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546,028 admissions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194560"/>
            <a:ext cx="3657600" cy="4023360"/>
          </a:xfrm>
          <a:prstGeom prst="rect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09160" y="2377440"/>
            <a:ext cx="502920" cy="50292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2395728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6F1E6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01752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1" i="0">
                <a:solidFill>
                  <a:srgbClr val="0B3B44"/>
                </a:solidFill>
                <a:latin typeface="Georgia"/>
              </a:rPr>
              <a:t>MIMIC-IV-Note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4290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Clinical free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840480"/>
            <a:ext cx="3200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Discharge summaries (7 CSV files)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Linked to admissions by hadm_id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331,793 notes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194560"/>
            <a:ext cx="3657600" cy="4023360"/>
          </a:xfrm>
          <a:prstGeom prst="rect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03920" y="2377440"/>
            <a:ext cx="502920" cy="50292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2395728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6F1E6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1752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1" i="0">
                <a:solidFill>
                  <a:srgbClr val="0B3B44"/>
                </a:solidFill>
                <a:latin typeface="Georgia"/>
              </a:rPr>
              <a:t>MIMIC-III-SDOH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290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Validation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840480"/>
            <a:ext cx="3200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Hand-labeled clinical sentences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Used to test our keyword search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1,800 labeled sentences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04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0B3B44"/>
                </a:solidFill>
                <a:latin typeface="Georgia"/>
              </a:rPr>
              <a:t>Building the cohort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411480" cy="41148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12140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8483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0B3B44"/>
                </a:solidFill>
                <a:latin typeface="Calibri"/>
              </a:rPr>
              <a:t>Merge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8600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>
                <a:solidFill>
                  <a:srgbClr val="555555"/>
                </a:solidFill>
                <a:latin typeface="Calibri"/>
              </a:rPr>
              <a:t>MIMIC-IV admissions + patients on subject_id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06040"/>
            <a:ext cx="411480" cy="41148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2432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8775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0B3B44"/>
                </a:solidFill>
                <a:latin typeface="Calibri"/>
              </a:rPr>
              <a:t>Categorize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889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>
                <a:solidFill>
                  <a:srgbClr val="555555"/>
                </a:solidFill>
                <a:latin typeface="Calibri"/>
              </a:rPr>
              <a:t>Race (4), insurance (4), gender — simplified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108960"/>
            <a:ext cx="411480" cy="41148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12724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9067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0B3B44"/>
                </a:solidFill>
                <a:latin typeface="Calibri"/>
              </a:rPr>
              <a:t>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9184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>
                <a:solidFill>
                  <a:srgbClr val="555555"/>
                </a:solidFill>
                <a:latin typeface="Calibri"/>
              </a:rPr>
              <a:t>30-day readmission flag (~20%); in-hospital death 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611880"/>
            <a:ext cx="411480" cy="41148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9359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0B3B44"/>
                </a:solidFill>
                <a:latin typeface="Calibri"/>
              </a:rPr>
              <a:t>Diagnose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947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>
                <a:solidFill>
                  <a:srgbClr val="555555"/>
                </a:solidFill>
                <a:latin typeface="Calibri"/>
              </a:rPr>
              <a:t>Attach first-listed ICD code per admission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114800"/>
            <a:ext cx="411480" cy="41148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13308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0965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0B3B44"/>
                </a:solidFill>
                <a:latin typeface="Calibri"/>
              </a:rPr>
              <a:t>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9768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>
                <a:solidFill>
                  <a:srgbClr val="555555"/>
                </a:solidFill>
                <a:latin typeface="Calibri"/>
              </a:rPr>
              <a:t>Keep only schizophrenia, bipolar, severe/recurrent MDD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03120"/>
            <a:ext cx="411480" cy="41148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12140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08483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0B3B44"/>
                </a:solidFill>
                <a:latin typeface="Calibri"/>
              </a:rPr>
              <a:t>Exclude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28600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>
                <a:solidFill>
                  <a:srgbClr val="555555"/>
                </a:solidFill>
                <a:latin typeface="Calibri"/>
              </a:rPr>
              <a:t>Drop transfers, against-advice, in-hospital deaths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606040"/>
            <a:ext cx="411480" cy="41148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262432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58775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0B3B44"/>
                </a:solidFill>
                <a:latin typeface="Calibri"/>
              </a:rPr>
              <a:t>Attach 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7889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>
                <a:solidFill>
                  <a:srgbClr val="555555"/>
                </a:solidFill>
                <a:latin typeface="Calibri"/>
              </a:rPr>
              <a:t>Merge MIMIC-IV-Note discharge summaries by hadm_id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108960"/>
            <a:ext cx="411480" cy="41148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12724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09067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0B3B44"/>
                </a:solidFill>
                <a:latin typeface="Calibri"/>
              </a:rPr>
              <a:t>Clean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29184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>
                <a:solidFill>
                  <a:srgbClr val="555555"/>
                </a:solidFill>
                <a:latin typeface="Calibri"/>
              </a:rPr>
              <a:t>Strip the administrative “Discharge Disposition” 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611880"/>
            <a:ext cx="411480" cy="41148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3630168"/>
            <a:ext cx="411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59359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0B3B44"/>
                </a:solidFill>
                <a:latin typeface="Calibri"/>
              </a:rPr>
              <a:t>Search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7947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>
                <a:solidFill>
                  <a:srgbClr val="555555"/>
                </a:solidFill>
                <a:latin typeface="Calibri"/>
              </a:rPr>
              <a:t>Apply the validated 20-keyword housing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05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 dirty="0">
                <a:solidFill>
                  <a:srgbClr val="0B3B44"/>
                </a:solidFill>
                <a:latin typeface="Georgia"/>
              </a:rPr>
              <a:t>From 546,028 admissions to 3,808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768096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ell45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8840"/>
            <a:ext cx="7406640" cy="36659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0" y="2103120"/>
            <a:ext cx="33832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400" b="1" i="0">
                <a:solidFill>
                  <a:srgbClr val="0B3B44"/>
                </a:solidFill>
                <a:latin typeface="Georgia"/>
              </a:rPr>
              <a:t>3,808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880360"/>
            <a:ext cx="33832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FINAL ADMISSIONS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10896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after exclusions and note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20440"/>
            <a:ext cx="33832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400" b="1" i="0">
                <a:solidFill>
                  <a:srgbClr val="0B3B44"/>
                </a:solidFill>
                <a:latin typeface="Georgia"/>
              </a:rPr>
              <a:t>2,859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297680"/>
            <a:ext cx="33832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UNIQUE 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52628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some patients have multiple stays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937760"/>
            <a:ext cx="33832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400" b="1" i="0">
                <a:solidFill>
                  <a:srgbClr val="0B3B44"/>
                </a:solidFill>
                <a:latin typeface="Georgia"/>
              </a:rPr>
              <a:t>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715000"/>
            <a:ext cx="33832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RETENTION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94360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of all MIMIC-IV admissions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06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0B3B44"/>
                </a:solidFill>
                <a:latin typeface="Georgia"/>
              </a:rPr>
              <a:t>How good is keyword search, really?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78638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ell3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7589520" cy="28085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0" y="201168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0B3B44"/>
                </a:solidFill>
                <a:latin typeface="Georgia"/>
              </a:rPr>
              <a:t>0.75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65176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97180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C2553D"/>
                </a:solidFill>
                <a:latin typeface="Georgia"/>
              </a:rPr>
              <a:t>0.39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61188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93192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0B3B44"/>
                </a:solidFill>
                <a:latin typeface="Georgia"/>
              </a:rPr>
              <a:t>0.51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57200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F1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86400"/>
            <a:ext cx="10972800" cy="77724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650992"/>
            <a:ext cx="1051560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 i="1" dirty="0">
                <a:solidFill>
                  <a:srgbClr val="F6F1E6"/>
                </a:solidFill>
                <a:latin typeface="Georgia"/>
              </a:rPr>
              <a:t>When we flag housing we're usually right — but we miss 6 in 10 real mentions. Keyword search is a floor, not a ceiling. Motivates </a:t>
            </a:r>
            <a:r>
              <a:rPr sz="1400" b="0" i="1" dirty="0" err="1">
                <a:solidFill>
                  <a:srgbClr val="F6F1E6"/>
                </a:solidFill>
                <a:latin typeface="Georgia"/>
              </a:rPr>
              <a:t>ClinicalBERT</a:t>
            </a:r>
            <a:r>
              <a:rPr sz="1400" b="0" i="1" dirty="0">
                <a:solidFill>
                  <a:srgbClr val="F6F1E6"/>
                </a:solidFill>
                <a:latin typeface="Georgia"/>
              </a:rPr>
              <a:t> in M</a:t>
            </a:r>
            <a:r>
              <a:rPr lang="en-US" sz="1400" i="1" dirty="0">
                <a:solidFill>
                  <a:srgbClr val="F6F1E6"/>
                </a:solidFill>
                <a:latin typeface="Georgia"/>
              </a:rPr>
              <a:t>ilestone </a:t>
            </a:r>
            <a:r>
              <a:rPr sz="1400" b="0" i="1" dirty="0">
                <a:solidFill>
                  <a:srgbClr val="F6F1E6"/>
                </a:solidFill>
                <a:latin typeface="Georgia"/>
              </a:rPr>
              <a:t>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07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0B3B44"/>
                </a:solidFill>
                <a:latin typeface="Georgia"/>
              </a:rPr>
              <a:t>Half the notes mention housing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ell48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94560"/>
            <a:ext cx="4276898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1945470"/>
            <a:ext cx="548640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0" b="1" i="0" dirty="0">
                <a:solidFill>
                  <a:srgbClr val="0B3B44"/>
                </a:solidFill>
                <a:latin typeface="Georgia"/>
              </a:rPr>
              <a:t>50.9%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39"/>
            <a:ext cx="5486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0" i="1">
                <a:solidFill>
                  <a:srgbClr val="555555"/>
                </a:solidFill>
                <a:latin typeface="Georgia"/>
              </a:rPr>
              <a:t>of SMI discharge summaries contain a keyword housing mention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480560"/>
            <a:ext cx="365760" cy="36576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617720"/>
            <a:ext cx="5486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B3B44"/>
                </a:solidFill>
                <a:latin typeface="Calibri"/>
              </a:rPr>
              <a:t>▪  </a:t>
            </a:r>
            <a:r>
              <a:rPr sz="1400">
                <a:solidFill>
                  <a:srgbClr val="1A1A1A"/>
                </a:solidFill>
                <a:latin typeface="Calibri"/>
              </a:rPr>
              <a:t>1,940 of 3,808 admissions flagged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B3B44"/>
                </a:solidFill>
                <a:latin typeface="Calibri"/>
              </a:rPr>
              <a:t>▪  </a:t>
            </a:r>
            <a:r>
              <a:rPr sz="1400">
                <a:solidFill>
                  <a:srgbClr val="1A1A1A"/>
                </a:solidFill>
                <a:latin typeface="Calibri"/>
              </a:rPr>
              <a:t>Likely an undercount given recall of 0.39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B3B44"/>
                </a:solidFill>
                <a:latin typeface="Calibri"/>
              </a:rPr>
              <a:t>▪  </a:t>
            </a:r>
            <a:r>
              <a:rPr sz="1400">
                <a:solidFill>
                  <a:srgbClr val="1A1A1A"/>
                </a:solidFill>
                <a:latin typeface="Calibri"/>
              </a:rPr>
              <a:t>Any gap is clinically concerning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08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0B3B44"/>
                </a:solidFill>
                <a:latin typeface="Georgia"/>
              </a:rPr>
              <a:t>Schizophrenia leads by 20+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7040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ell48_im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6022571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79" y="210312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200" b="1" i="0">
                <a:solidFill>
                  <a:srgbClr val="0B3B44"/>
                </a:solidFill>
                <a:latin typeface="Georgia"/>
              </a:rPr>
              <a:t>64.1%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670048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 spc="200">
                <a:solidFill>
                  <a:srgbClr val="C2553D"/>
                </a:solidFill>
                <a:latin typeface="Calibri"/>
              </a:rPr>
              <a:t>SCHIZOPHRENIA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10896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200" b="1" i="0">
                <a:solidFill>
                  <a:srgbClr val="0B3B44"/>
                </a:solidFill>
                <a:latin typeface="Georgia"/>
              </a:rPr>
              <a:t>48.2%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675888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 spc="200">
                <a:solidFill>
                  <a:srgbClr val="C2553D"/>
                </a:solidFill>
                <a:latin typeface="Calibri"/>
              </a:rPr>
              <a:t>BIPOLAR DISORDER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11480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200" b="1" i="0">
                <a:solidFill>
                  <a:srgbClr val="0B3B44"/>
                </a:solidFill>
                <a:latin typeface="Georgia"/>
              </a:rPr>
              <a:t>42.8%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681728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 spc="200">
                <a:solidFill>
                  <a:srgbClr val="C2553D"/>
                </a:solidFill>
                <a:latin typeface="Calibri"/>
              </a:rPr>
              <a:t>MAJOR DEPRESSIVE DISORDER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120640"/>
            <a:ext cx="41148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 i="1">
                <a:solidFill>
                  <a:srgbClr val="555555"/>
                </a:solidFill>
                <a:latin typeface="Georgia"/>
              </a:rPr>
              <a:t>Consistent with clinicians asking about living situation more routinely for patients with severe functional impairment.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09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 dirty="0">
                <a:solidFill>
                  <a:srgbClr val="0B3B44"/>
                </a:solidFill>
                <a:latin typeface="Georgia"/>
              </a:rPr>
              <a:t>Disparities by race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7040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ell48_im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6197138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79" y="210312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WHAT THIS COULD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23160"/>
            <a:ext cx="41148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B3B44"/>
                </a:solidFill>
                <a:latin typeface="Calibri"/>
              </a:rPr>
              <a:t>▪  </a:t>
            </a:r>
            <a:r>
              <a:rPr sz="1300">
                <a:solidFill>
                  <a:srgbClr val="1A1A1A"/>
                </a:solidFill>
                <a:latin typeface="Calibri"/>
              </a:rPr>
              <a:t>Black (59.4%) and Hispanic (55.2%) higher than White (48.0%)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B3B44"/>
                </a:solidFill>
                <a:latin typeface="Calibri"/>
              </a:rPr>
              <a:t>▪  </a:t>
            </a:r>
            <a:r>
              <a:rPr sz="1300">
                <a:solidFill>
                  <a:srgbClr val="1A1A1A"/>
                </a:solidFill>
                <a:latin typeface="Calibri"/>
              </a:rPr>
              <a:t>Could reflect real differences in housing instability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B3B44"/>
                </a:solidFill>
                <a:latin typeface="Calibri"/>
              </a:rPr>
              <a:t>▪  </a:t>
            </a:r>
            <a:r>
              <a:rPr sz="1300">
                <a:solidFill>
                  <a:srgbClr val="1A1A1A"/>
                </a:solidFill>
                <a:latin typeface="Calibri"/>
              </a:rPr>
              <a:t>Could reflect clinician attentiveness to social risk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B3B44"/>
                </a:solidFill>
                <a:latin typeface="Calibri"/>
              </a:rPr>
              <a:t>▪  </a:t>
            </a:r>
            <a:r>
              <a:rPr sz="1300">
                <a:solidFill>
                  <a:srgbClr val="1A1A1A"/>
                </a:solidFill>
                <a:latin typeface="Calibri"/>
              </a:rPr>
              <a:t>White patients may be assumed housing-stable and go unasked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491D7-0602-06AC-3FC8-B377584CA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11A227-F70F-CE99-4861-66C2D20F2403}"/>
              </a:ext>
            </a:extLst>
          </p:cNvPr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11942-3241-25FF-125D-5EAFE04F6DB5}"/>
              </a:ext>
            </a:extLst>
          </p:cNvPr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FINDINGS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02E65-22E1-EF42-BD85-C268D8D194AC}"/>
              </a:ext>
            </a:extLst>
          </p:cNvPr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87926-81E1-573D-B205-3D563960CC01}"/>
              </a:ext>
            </a:extLst>
          </p:cNvPr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D4867-8513-EDE6-65F0-4CC9DE8F6492}"/>
              </a:ext>
            </a:extLst>
          </p:cNvPr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0</a:t>
            </a:r>
            <a:r>
              <a:rPr sz="900" b="1" i="0" dirty="0">
                <a:solidFill>
                  <a:srgbClr val="0B3B44"/>
                </a:solidFill>
                <a:latin typeface="Calibri"/>
              </a:rPr>
              <a:t>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lang="en-US"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96CA27-A1B5-A141-A637-99D65F012837}"/>
              </a:ext>
            </a:extLst>
          </p:cNvPr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2276C4-BA52-3607-B2A5-2FCF595BB444}"/>
              </a:ext>
            </a:extLst>
          </p:cNvPr>
          <p:cNvSpPr txBox="1"/>
          <p:nvPr/>
        </p:nvSpPr>
        <p:spPr>
          <a:xfrm>
            <a:off x="640080" y="868680"/>
            <a:ext cx="1115568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3600" b="1" dirty="0">
                <a:solidFill>
                  <a:srgbClr val="0B3B44"/>
                </a:solidFill>
                <a:latin typeface="Georgia"/>
              </a:rPr>
              <a:t>Disparities by gender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13E708-F942-D2EB-71E0-6748789B4D80}"/>
              </a:ext>
            </a:extLst>
          </p:cNvPr>
          <p:cNvSpPr/>
          <p:nvPr/>
        </p:nvSpPr>
        <p:spPr>
          <a:xfrm>
            <a:off x="640080" y="2011680"/>
            <a:ext cx="7040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ell48_img9.png">
            <a:extLst>
              <a:ext uri="{FF2B5EF4-FFF2-40B4-BE49-F238E27FC236}">
                <a16:creationId xmlns:a16="http://schemas.microsoft.com/office/drawing/2014/main" id="{07812019-91F9-3081-4B75-6560AD66C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5149735" cy="38404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C722A4-D019-824B-FED2-E1E55698C23F}"/>
              </a:ext>
            </a:extLst>
          </p:cNvPr>
          <p:cNvSpPr txBox="1"/>
          <p:nvPr/>
        </p:nvSpPr>
        <p:spPr>
          <a:xfrm>
            <a:off x="7955279" y="210312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 dirty="0">
                <a:solidFill>
                  <a:srgbClr val="C2553D"/>
                </a:solidFill>
                <a:latin typeface="Calibri"/>
              </a:rPr>
              <a:t>THE 9-POINT GAP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327F1B-2694-5786-D18D-DEE604883B4A}"/>
              </a:ext>
            </a:extLst>
          </p:cNvPr>
          <p:cNvSpPr txBox="1"/>
          <p:nvPr/>
        </p:nvSpPr>
        <p:spPr>
          <a:xfrm>
            <a:off x="7955279" y="2377440"/>
            <a:ext cx="4114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1" i="0" dirty="0">
                <a:solidFill>
                  <a:srgbClr val="0B3B44"/>
                </a:solidFill>
                <a:latin typeface="Georgia"/>
              </a:rPr>
              <a:t>Male 55.5% vs Female 46.6%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C48846-B1AF-A165-0201-DEA3D7DC7763}"/>
              </a:ext>
            </a:extLst>
          </p:cNvPr>
          <p:cNvSpPr txBox="1"/>
          <p:nvPr/>
        </p:nvSpPr>
        <p:spPr>
          <a:xfrm>
            <a:off x="7955279" y="3291840"/>
            <a:ext cx="41148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Men are more likely to have housing documented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But schizophrenia is more common in men — and schizophrenia has the highest mention rate (64%)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The gender gap may be driven by diagnosis mix, not gendered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447779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1</a:t>
            </a:r>
            <a:r>
              <a:rPr lang="en-US" sz="900" b="1" i="0" dirty="0">
                <a:solidFill>
                  <a:srgbClr val="0B3B44"/>
                </a:solidFill>
                <a:latin typeface="Calibri"/>
              </a:rPr>
              <a:t>1</a:t>
            </a:r>
            <a:r>
              <a:rPr sz="900" b="1" i="0" dirty="0">
                <a:solidFill>
                  <a:srgbClr val="0B3B44"/>
                </a:solidFill>
                <a:latin typeface="Calibri"/>
              </a:rPr>
              <a:t>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lang="en-US"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0B3B44"/>
                </a:solidFill>
                <a:latin typeface="Georgia"/>
              </a:rPr>
              <a:t>The biggest gap is by insurance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7040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ell48_im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6197138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79" y="210312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THE 22-POINT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377440"/>
            <a:ext cx="4114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1" i="0">
                <a:solidFill>
                  <a:srgbClr val="0B3B44"/>
                </a:solidFill>
                <a:latin typeface="Georgia"/>
              </a:rPr>
              <a:t>Medicaid 59% vs Private 37%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291840"/>
            <a:ext cx="41148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B3B44"/>
                </a:solidFill>
                <a:latin typeface="Calibri"/>
              </a:rPr>
              <a:t>▪  </a:t>
            </a:r>
            <a:r>
              <a:rPr sz="1300">
                <a:solidFill>
                  <a:srgbClr val="1A1A1A"/>
                </a:solidFill>
                <a:latin typeface="Calibri"/>
              </a:rPr>
              <a:t>Medicaid is income-based — itself a marker of housing vulnerability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B3B44"/>
                </a:solidFill>
                <a:latin typeface="Calibri"/>
              </a:rPr>
              <a:t>▪  </a:t>
            </a:r>
            <a:r>
              <a:rPr sz="1300">
                <a:solidFill>
                  <a:srgbClr val="1A1A1A"/>
                </a:solidFill>
                <a:latin typeface="Calibri"/>
              </a:rPr>
              <a:t>Clinicians may anchor on insurance type when deciding to ask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B3B44"/>
                </a:solidFill>
                <a:latin typeface="Calibri"/>
              </a:rPr>
              <a:t>▪  </a:t>
            </a:r>
            <a:r>
              <a:rPr sz="1300">
                <a:solidFill>
                  <a:srgbClr val="1A1A1A"/>
                </a:solidFill>
                <a:latin typeface="Calibri"/>
              </a:rPr>
              <a:t>Open question: appropriate risk-based attention, or stereotype?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35E5D-40B8-F3A0-74DB-F3F71360C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506E02-68EF-976B-296B-8207D454C119}"/>
              </a:ext>
            </a:extLst>
          </p:cNvPr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CC4CA-4BF4-7F5E-7509-08099FE62BA2}"/>
              </a:ext>
            </a:extLst>
          </p:cNvPr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FINDINGS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8932FA-338B-9F84-9B29-D508D5B40459}"/>
              </a:ext>
            </a:extLst>
          </p:cNvPr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1EAFA-2E3F-830E-9773-B33C96B28354}"/>
              </a:ext>
            </a:extLst>
          </p:cNvPr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EF01C-67D1-4BA6-E8D5-9A2F8AE7D812}"/>
              </a:ext>
            </a:extLst>
          </p:cNvPr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2</a:t>
            </a:r>
            <a:r>
              <a:rPr sz="900" b="1" i="0" dirty="0">
                <a:solidFill>
                  <a:srgbClr val="0B3B44"/>
                </a:solidFill>
                <a:latin typeface="Calibri"/>
              </a:rPr>
              <a:t>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232A68-2B16-318E-4AE5-27238EC31A5D}"/>
              </a:ext>
            </a:extLst>
          </p:cNvPr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CEA8DD-2652-FC81-0353-62B0363930FC}"/>
              </a:ext>
            </a:extLst>
          </p:cNvPr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 dirty="0">
                <a:solidFill>
                  <a:srgbClr val="0B3B44"/>
                </a:solidFill>
                <a:latin typeface="Georgia"/>
              </a:rPr>
              <a:t>Notes that mention housing run longer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408597-0C24-FECD-3364-22B79B321728}"/>
              </a:ext>
            </a:extLst>
          </p:cNvPr>
          <p:cNvSpPr txBox="1"/>
          <p:nvPr/>
        </p:nvSpPr>
        <p:spPr>
          <a:xfrm>
            <a:off x="8595360" y="2103120"/>
            <a:ext cx="33832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 dirty="0">
                <a:solidFill>
                  <a:srgbClr val="C2553D"/>
                </a:solidFill>
                <a:latin typeface="Calibri"/>
              </a:rPr>
              <a:t>MEAN WORD COUNT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0129AD-949A-1F42-3CFD-D9E0C7880545}"/>
              </a:ext>
            </a:extLst>
          </p:cNvPr>
          <p:cNvSpPr txBox="1"/>
          <p:nvPr/>
        </p:nvSpPr>
        <p:spPr>
          <a:xfrm>
            <a:off x="8595360" y="2423160"/>
            <a:ext cx="33832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400" b="1" i="0" dirty="0">
                <a:solidFill>
                  <a:srgbClr val="0B3B44"/>
                </a:solidFill>
                <a:latin typeface="Georgia"/>
              </a:rPr>
              <a:t>2,254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C4A5F8-45C5-D4DF-1EEA-BA5E10FBF480}"/>
              </a:ext>
            </a:extLst>
          </p:cNvPr>
          <p:cNvSpPr txBox="1"/>
          <p:nvPr/>
        </p:nvSpPr>
        <p:spPr>
          <a:xfrm>
            <a:off x="8595360" y="3200400"/>
            <a:ext cx="33832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1" dirty="0">
                <a:solidFill>
                  <a:srgbClr val="555555"/>
                </a:solidFill>
                <a:latin typeface="Calibri"/>
              </a:rPr>
              <a:t>Housing mentioned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230F00-B171-68D2-F5D3-608E6163A546}"/>
              </a:ext>
            </a:extLst>
          </p:cNvPr>
          <p:cNvSpPr txBox="1"/>
          <p:nvPr/>
        </p:nvSpPr>
        <p:spPr>
          <a:xfrm>
            <a:off x="8595360" y="3611880"/>
            <a:ext cx="33832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400" b="1" i="0" dirty="0">
                <a:solidFill>
                  <a:srgbClr val="1C5A66"/>
                </a:solidFill>
                <a:latin typeface="Georgia"/>
              </a:rPr>
              <a:t>1,947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8035E4-95F2-F031-4815-856B0994DD3A}"/>
              </a:ext>
            </a:extLst>
          </p:cNvPr>
          <p:cNvSpPr txBox="1"/>
          <p:nvPr/>
        </p:nvSpPr>
        <p:spPr>
          <a:xfrm>
            <a:off x="8595360" y="4389120"/>
            <a:ext cx="33832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1" dirty="0">
                <a:solidFill>
                  <a:srgbClr val="555555"/>
                </a:solidFill>
                <a:latin typeface="Calibri"/>
              </a:rPr>
              <a:t>No mention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B060B9-17D8-E0E9-E04F-4683F4BD3612}"/>
              </a:ext>
            </a:extLst>
          </p:cNvPr>
          <p:cNvSpPr/>
          <p:nvPr/>
        </p:nvSpPr>
        <p:spPr>
          <a:xfrm>
            <a:off x="8595360" y="4800600"/>
            <a:ext cx="365760" cy="36576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C8987C-613C-E56A-2007-8502E21E934C}"/>
              </a:ext>
            </a:extLst>
          </p:cNvPr>
          <p:cNvSpPr txBox="1"/>
          <p:nvPr/>
        </p:nvSpPr>
        <p:spPr>
          <a:xfrm>
            <a:off x="8595360" y="4937760"/>
            <a:ext cx="3383280" cy="1463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 i="1" dirty="0">
                <a:solidFill>
                  <a:srgbClr val="555555"/>
                </a:solidFill>
                <a:latin typeface="Georgia"/>
              </a:rPr>
              <a:t>A ~300-word gap. Notes that mention housing tend to be more thorough overall — likely capturing more of the patient's social context.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C6109-E6EE-BCE2-5C8E-86106A6247DB}"/>
              </a:ext>
            </a:extLst>
          </p:cNvPr>
          <p:cNvSpPr/>
          <p:nvPr/>
        </p:nvSpPr>
        <p:spPr>
          <a:xfrm>
            <a:off x="640080" y="2011680"/>
            <a:ext cx="76809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cell49_img11.png">
            <a:extLst>
              <a:ext uri="{FF2B5EF4-FFF2-40B4-BE49-F238E27FC236}">
                <a16:creationId xmlns:a16="http://schemas.microsoft.com/office/drawing/2014/main" id="{DCF65A01-0C96-CA92-E3D0-D274FD5C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68880"/>
            <a:ext cx="7406640" cy="366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66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3</a:t>
            </a:r>
            <a:r>
              <a:rPr sz="900" b="1" i="0" dirty="0">
                <a:solidFill>
                  <a:srgbClr val="0B3B44"/>
                </a:solidFill>
                <a:latin typeface="Calibri"/>
              </a:rPr>
              <a:t>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lang="en-US"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>
                <a:solidFill>
                  <a:srgbClr val="0B3B44"/>
                </a:solidFill>
                <a:latin typeface="Georgia"/>
              </a:rPr>
              <a:t>Five things we learned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82296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600" b="1" i="1">
                <a:solidFill>
                  <a:srgbClr val="C2553D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57400"/>
            <a:ext cx="10058400" cy="2985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 i="0" dirty="0">
                <a:solidFill>
                  <a:srgbClr val="0B3B44"/>
                </a:solidFill>
                <a:latin typeface="Georgia"/>
              </a:rPr>
              <a:t>Half the notes mention housing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41448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 i="1" dirty="0">
                <a:solidFill>
                  <a:srgbClr val="555555"/>
                </a:solidFill>
                <a:latin typeface="Calibri"/>
              </a:rPr>
              <a:t>And keyword recall of 0.39 means the true rate is likely higher.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98648"/>
            <a:ext cx="82296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600" b="1" i="1">
                <a:solidFill>
                  <a:srgbClr val="C2553D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98648"/>
            <a:ext cx="100584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 i="0" dirty="0">
                <a:solidFill>
                  <a:srgbClr val="0B3B44"/>
                </a:solidFill>
                <a:latin typeface="Georgia"/>
              </a:rPr>
              <a:t>Diagnosis matters more than expected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82696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 i="1" dirty="0">
                <a:solidFill>
                  <a:srgbClr val="555555"/>
                </a:solidFill>
                <a:latin typeface="Calibri"/>
              </a:rPr>
              <a:t>Schizophrenia 64% vs MDD 43% — a 21-point gap.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39896"/>
            <a:ext cx="82296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600" b="1" i="1">
                <a:solidFill>
                  <a:srgbClr val="C2553D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739896"/>
            <a:ext cx="100584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 i="0" dirty="0">
                <a:solidFill>
                  <a:srgbClr val="0B3B44"/>
                </a:solidFill>
                <a:latin typeface="Georgia"/>
              </a:rPr>
              <a:t>Documentation is unequal across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 i="1" dirty="0">
                <a:solidFill>
                  <a:srgbClr val="555555"/>
                </a:solidFill>
                <a:latin typeface="Calibri"/>
              </a:rPr>
              <a:t>Black &amp; Hispanic &gt; White; Medicaid &amp; Medicare &gt; Private.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81144"/>
            <a:ext cx="82296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600" b="1" i="1">
                <a:solidFill>
                  <a:srgbClr val="C2553D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581144"/>
            <a:ext cx="100584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 i="0" dirty="0">
                <a:solidFill>
                  <a:srgbClr val="0B3B44"/>
                </a:solidFill>
                <a:latin typeface="Georgia"/>
              </a:rPr>
              <a:t>Longer notes mention housing more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65192"/>
            <a:ext cx="100584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1200" i="1" dirty="0">
                <a:solidFill>
                  <a:srgbClr val="555555"/>
                </a:solidFill>
                <a:latin typeface="Calibri"/>
              </a:rPr>
              <a:t>Notes that mention housing tend to be longer — likely because they're more thorough overall</a:t>
            </a:r>
            <a:endParaRPr sz="12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82296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600" b="1" i="1">
                <a:solidFill>
                  <a:srgbClr val="C2553D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422392"/>
            <a:ext cx="10058400" cy="2985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1700" b="1" i="0" dirty="0">
                <a:solidFill>
                  <a:srgbClr val="0B3B44"/>
                </a:solidFill>
                <a:latin typeface="Georgia"/>
              </a:rPr>
              <a:t>The keyword baseline gives us a floor, not a ceiling</a:t>
            </a:r>
            <a:endParaRPr sz="1700" b="1" i="0" dirty="0">
              <a:solidFill>
                <a:srgbClr val="0B3B44"/>
              </a:solidFill>
              <a:latin typeface="Georgi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91640" y="5806440"/>
            <a:ext cx="100584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1200" b="0" i="1" dirty="0">
                <a:solidFill>
                  <a:srgbClr val="555555"/>
                </a:solidFill>
                <a:latin typeface="Calibri"/>
              </a:rPr>
              <a:t>With recall at 0.39, every rate we report is a lower bound on the true documentation rate</a:t>
            </a:r>
            <a:endParaRPr sz="1200" b="0" i="1" dirty="0">
              <a:solidFill>
                <a:srgbClr val="5555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>
                <a:solidFill>
                  <a:srgbClr val="0B3B44"/>
                </a:solidFill>
                <a:latin typeface="Calibri"/>
              </a:rPr>
              <a:t>RESCOPING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4</a:t>
            </a:r>
            <a:r>
              <a:rPr sz="900" b="1" i="0" dirty="0">
                <a:solidFill>
                  <a:srgbClr val="0B3B44"/>
                </a:solidFill>
                <a:latin typeface="Calibri"/>
              </a:rPr>
              <a:t>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 dirty="0">
                <a:solidFill>
                  <a:srgbClr val="0B3B44"/>
                </a:solidFill>
                <a:latin typeface="Georgia"/>
              </a:rPr>
              <a:t>What changed since Milestone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5394960" cy="4023360"/>
          </a:xfrm>
          <a:prstGeom prst="rect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555555"/>
                </a:solidFill>
                <a:latin typeface="Calibri"/>
              </a:rPr>
              <a:t>M1 — 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4937760" cy="114492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1800" b="0" i="1" dirty="0">
                <a:solidFill>
                  <a:srgbClr val="1A1A1A"/>
                </a:solidFill>
                <a:latin typeface="Georgia"/>
              </a:rPr>
              <a:t>How much can a fine-tuned clinical language model improve on keyword rules for detecting social determinants of health?</a:t>
            </a:r>
          </a:p>
          <a:p>
            <a:endParaRPr sz="1800" b="0" i="1" dirty="0">
              <a:solidFill>
                <a:srgbClr val="1A1A1A"/>
              </a:solidFill>
              <a:latin typeface="Georgi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4937760" cy="163192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lang="en-US" sz="1300" dirty="0">
                <a:solidFill>
                  <a:srgbClr val="1A1A1A"/>
                </a:solidFill>
                <a:latin typeface="Calibri"/>
              </a:rPr>
              <a:t>Multiple social determinants of health (housing, food, substance use, isolation)</a:t>
            </a:r>
            <a:endParaRPr sz="1300" dirty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lang="en-US" sz="1300" dirty="0">
                <a:solidFill>
                  <a:srgbClr val="1A1A1A"/>
                </a:solidFill>
                <a:latin typeface="Calibri"/>
              </a:rPr>
              <a:t>All discharge summaries in MIMIC-IV-Note</a:t>
            </a:r>
            <a:endParaRPr sz="1300" dirty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lang="en-US" sz="1300" dirty="0">
                <a:solidFill>
                  <a:srgbClr val="1A1A1A"/>
                </a:solidFill>
                <a:latin typeface="Calibri"/>
              </a:rPr>
              <a:t>Hand-label 200–300 notes for evaluation</a:t>
            </a:r>
            <a:endParaRPr sz="1300" dirty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lang="en-US" sz="1300" dirty="0">
                <a:solidFill>
                  <a:srgbClr val="1A1A1A"/>
                </a:solidFill>
                <a:latin typeface="Calibri"/>
              </a:rPr>
              <a:t>Method-focused: keywords vs. </a:t>
            </a:r>
            <a:r>
              <a:rPr lang="en-US" sz="1300" dirty="0" err="1">
                <a:solidFill>
                  <a:srgbClr val="1A1A1A"/>
                </a:solidFill>
                <a:latin typeface="Calibri"/>
              </a:rPr>
              <a:t>ClinicalBERT</a:t>
            </a:r>
            <a:r>
              <a:rPr lang="en-US" sz="1300" dirty="0">
                <a:solidFill>
                  <a:srgbClr val="1A1A1A"/>
                </a:solidFill>
                <a:latin typeface="Calibri"/>
              </a:rPr>
              <a:t> comparison</a:t>
            </a:r>
            <a:endParaRPr sz="130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0" y="2103120"/>
            <a:ext cx="5394960" cy="402336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28600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>
                <a:solidFill>
                  <a:srgbClr val="C2553D"/>
                </a:solidFill>
                <a:latin typeface="Calibri"/>
              </a:rPr>
              <a:t>M2 — REFINED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4937760" cy="114492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1800" b="0" i="1" dirty="0">
                <a:solidFill>
                  <a:srgbClr val="F6F1E6"/>
                </a:solidFill>
                <a:latin typeface="Georgia"/>
              </a:rPr>
              <a:t>Is housing documented in SMI discharge summaries, and do documentation rates differ by race, insurance, or gender?</a:t>
            </a:r>
          </a:p>
          <a:p>
            <a:endParaRPr sz="1800" b="0" i="1" dirty="0">
              <a:solidFill>
                <a:srgbClr val="F6F1E6"/>
              </a:solidFill>
              <a:latin typeface="Georg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9400" y="4114800"/>
            <a:ext cx="4937760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dirty="0">
                <a:solidFill>
                  <a:srgbClr val="C2553D"/>
                </a:solidFill>
                <a:latin typeface="Calibri"/>
              </a:rPr>
              <a:t>▪  </a:t>
            </a:r>
            <a:r>
              <a:rPr lang="en-US" sz="1300" dirty="0">
                <a:solidFill>
                  <a:srgbClr val="F6F1E6"/>
                </a:solidFill>
              </a:rPr>
              <a:t>Narrowed from all SDOH to housing specifically</a:t>
            </a:r>
            <a:endParaRPr sz="1300" dirty="0">
              <a:solidFill>
                <a:srgbClr val="F6F1E6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dirty="0">
                <a:solidFill>
                  <a:srgbClr val="C2553D"/>
                </a:solidFill>
                <a:latin typeface="Calibri"/>
              </a:rPr>
              <a:t>▪  </a:t>
            </a:r>
            <a:r>
              <a:rPr lang="en-US" sz="1300" dirty="0">
                <a:solidFill>
                  <a:srgbClr val="F6F1E6"/>
                </a:solidFill>
              </a:rPr>
              <a:t>Narrowed from all admissions to the SMI cohort</a:t>
            </a:r>
            <a:endParaRPr lang="en-US" sz="1300" dirty="0">
              <a:solidFill>
                <a:srgbClr val="F6F1E6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C2553D"/>
                </a:solidFill>
                <a:latin typeface="Calibri"/>
              </a:rPr>
              <a:t>▪  </a:t>
            </a:r>
            <a:r>
              <a:rPr lang="en-US" sz="1300" dirty="0">
                <a:solidFill>
                  <a:srgbClr val="F6F1E6"/>
                </a:solidFill>
              </a:rPr>
              <a:t>Validation set: MIMIC-III-SDOH (1,800 pre-labeled sentences) instead of hand-labeling</a:t>
            </a:r>
            <a:endParaRPr lang="en-US" sz="1300" dirty="0">
              <a:solidFill>
                <a:srgbClr val="F6F1E6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dirty="0">
                <a:solidFill>
                  <a:srgbClr val="C2553D"/>
                </a:solidFill>
                <a:latin typeface="Calibri"/>
              </a:rPr>
              <a:t>▪ </a:t>
            </a:r>
            <a:r>
              <a:rPr lang="en-US" sz="1300" dirty="0">
                <a:solidFill>
                  <a:srgbClr val="F6F1E6"/>
                </a:solidFill>
                <a:latin typeface="Calibri"/>
              </a:rPr>
              <a:t>Question-focused: documentation patterns and equity, with the model as the tool to answer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19179-7DE3-674B-C2B7-DEA6923C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7CBD82-98E3-147D-CE6A-253869C972CC}"/>
              </a:ext>
            </a:extLst>
          </p:cNvPr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A26AB5-F64C-C9F9-580D-7B29F1D433D0}"/>
              </a:ext>
            </a:extLst>
          </p:cNvPr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4E830-0DEA-6C46-A9D3-C406E36B3835}"/>
              </a:ext>
            </a:extLst>
          </p:cNvPr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CD037-7D79-4814-57D1-722929E1F913}"/>
              </a:ext>
            </a:extLst>
          </p:cNvPr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1</a:t>
            </a:r>
            <a:r>
              <a:rPr lang="en-US" sz="900" b="1" i="0" dirty="0">
                <a:solidFill>
                  <a:srgbClr val="0B3B44"/>
                </a:solidFill>
                <a:latin typeface="Calibri"/>
              </a:rPr>
              <a:t>5</a:t>
            </a:r>
            <a:r>
              <a:rPr sz="900" b="1" i="0" dirty="0">
                <a:solidFill>
                  <a:srgbClr val="0B3B44"/>
                </a:solidFill>
                <a:latin typeface="Calibri"/>
              </a:rPr>
              <a:t>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A47DA5-97C2-45FA-044B-E04FC3FE638B}"/>
              </a:ext>
            </a:extLst>
          </p:cNvPr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2D347-E475-BD79-A3E9-856A0FC5794A}"/>
              </a:ext>
            </a:extLst>
          </p:cNvPr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 dirty="0">
                <a:solidFill>
                  <a:srgbClr val="0B3B44"/>
                </a:solidFill>
                <a:latin typeface="Georgia"/>
              </a:rPr>
              <a:t>What happens in Milestone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E11ABB-D6D3-90C0-7D20-6A5C8A87E523}"/>
              </a:ext>
            </a:extLst>
          </p:cNvPr>
          <p:cNvSpPr/>
          <p:nvPr/>
        </p:nvSpPr>
        <p:spPr>
          <a:xfrm>
            <a:off x="640080" y="2377440"/>
            <a:ext cx="2697480" cy="2743200"/>
          </a:xfrm>
          <a:prstGeom prst="rect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4EBED0-C61B-F7D7-2CD9-4E2693D9E790}"/>
              </a:ext>
            </a:extLst>
          </p:cNvPr>
          <p:cNvSpPr txBox="1"/>
          <p:nvPr/>
        </p:nvSpPr>
        <p:spPr>
          <a:xfrm>
            <a:off x="868680" y="3246120"/>
            <a:ext cx="24688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000" b="1" i="0" dirty="0">
                <a:solidFill>
                  <a:srgbClr val="0B3B44"/>
                </a:solidFill>
                <a:latin typeface="Georgia"/>
              </a:rPr>
              <a:t>Fine-tune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57F0AA-31AD-BA32-CB5E-D0F2F7D62BB6}"/>
              </a:ext>
            </a:extLst>
          </p:cNvPr>
          <p:cNvSpPr txBox="1"/>
          <p:nvPr/>
        </p:nvSpPr>
        <p:spPr>
          <a:xfrm>
            <a:off x="868680" y="2560320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200" b="1" i="1" dirty="0">
                <a:solidFill>
                  <a:srgbClr val="C2553D"/>
                </a:solidFill>
                <a:latin typeface="Georgia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779CE0-3DD7-C718-C28F-DA7676362935}"/>
              </a:ext>
            </a:extLst>
          </p:cNvPr>
          <p:cNvSpPr txBox="1"/>
          <p:nvPr/>
        </p:nvSpPr>
        <p:spPr>
          <a:xfrm>
            <a:off x="868680" y="3794760"/>
            <a:ext cx="233172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0" i="0" dirty="0" err="1">
                <a:solidFill>
                  <a:srgbClr val="555555"/>
                </a:solidFill>
                <a:latin typeface="Calibri"/>
              </a:rPr>
              <a:t>ClinicalBERT</a:t>
            </a:r>
            <a:r>
              <a:rPr sz="1300" b="0" i="0" dirty="0">
                <a:solidFill>
                  <a:srgbClr val="555555"/>
                </a:solidFill>
                <a:latin typeface="Calibri"/>
              </a:rPr>
              <a:t> on MIMIC-III-SDOH housing labels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A0358C-F5EB-B7C3-F74C-095765EC07DB}"/>
              </a:ext>
            </a:extLst>
          </p:cNvPr>
          <p:cNvSpPr/>
          <p:nvPr/>
        </p:nvSpPr>
        <p:spPr>
          <a:xfrm>
            <a:off x="3474720" y="2377440"/>
            <a:ext cx="2697480" cy="2743200"/>
          </a:xfrm>
          <a:prstGeom prst="rect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2AA019-303C-8D6D-52BD-F7F76DA6C3F9}"/>
              </a:ext>
            </a:extLst>
          </p:cNvPr>
          <p:cNvSpPr/>
          <p:nvPr/>
        </p:nvSpPr>
        <p:spPr>
          <a:xfrm>
            <a:off x="6309360" y="2377440"/>
            <a:ext cx="2697480" cy="2743200"/>
          </a:xfrm>
          <a:prstGeom prst="rect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456433-F388-792F-173C-DDB05DDDA6C1}"/>
              </a:ext>
            </a:extLst>
          </p:cNvPr>
          <p:cNvSpPr/>
          <p:nvPr/>
        </p:nvSpPr>
        <p:spPr>
          <a:xfrm>
            <a:off x="9144000" y="2377440"/>
            <a:ext cx="2697480" cy="2743200"/>
          </a:xfrm>
          <a:prstGeom prst="rect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75ED0E-AFA6-636E-B8D1-8FDDFBCA9625}"/>
              </a:ext>
            </a:extLst>
          </p:cNvPr>
          <p:cNvSpPr txBox="1"/>
          <p:nvPr/>
        </p:nvSpPr>
        <p:spPr>
          <a:xfrm>
            <a:off x="3703320" y="2560320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200" b="1" i="1" dirty="0">
                <a:solidFill>
                  <a:srgbClr val="C2553D"/>
                </a:solidFill>
                <a:latin typeface="Georgia"/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945478-022D-7B79-0FB4-1284DCDEA8CD}"/>
              </a:ext>
            </a:extLst>
          </p:cNvPr>
          <p:cNvSpPr txBox="1"/>
          <p:nvPr/>
        </p:nvSpPr>
        <p:spPr>
          <a:xfrm>
            <a:off x="3703320" y="3246120"/>
            <a:ext cx="24688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000" b="1" i="0" dirty="0">
                <a:solidFill>
                  <a:srgbClr val="0B3B44"/>
                </a:solidFill>
                <a:latin typeface="Georgia"/>
              </a:rPr>
              <a:t>Apply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C9D43-9F08-162F-22EE-A2E21BCC72F5}"/>
              </a:ext>
            </a:extLst>
          </p:cNvPr>
          <p:cNvSpPr txBox="1"/>
          <p:nvPr/>
        </p:nvSpPr>
        <p:spPr>
          <a:xfrm>
            <a:off x="3703320" y="3794760"/>
            <a:ext cx="233172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0" i="0" dirty="0">
                <a:solidFill>
                  <a:srgbClr val="555555"/>
                </a:solidFill>
                <a:latin typeface="Calibri"/>
              </a:rPr>
              <a:t>Inference on MIMIC-IV-Note SMI discharge summaries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A4B9CD-B6D2-12C4-800D-FE5A28D889B1}"/>
              </a:ext>
            </a:extLst>
          </p:cNvPr>
          <p:cNvSpPr txBox="1"/>
          <p:nvPr/>
        </p:nvSpPr>
        <p:spPr>
          <a:xfrm>
            <a:off x="6537960" y="2560320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200" b="1" i="1" dirty="0">
                <a:solidFill>
                  <a:srgbClr val="C2553D"/>
                </a:solidFill>
                <a:latin typeface="Georgia"/>
              </a:rPr>
              <a:t>03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28A33A-D2D3-6BB8-033B-03E38837DE63}"/>
              </a:ext>
            </a:extLst>
          </p:cNvPr>
          <p:cNvSpPr txBox="1"/>
          <p:nvPr/>
        </p:nvSpPr>
        <p:spPr>
          <a:xfrm>
            <a:off x="6537960" y="3246120"/>
            <a:ext cx="24688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000" b="1" i="0" dirty="0">
                <a:solidFill>
                  <a:srgbClr val="0B3B44"/>
                </a:solidFill>
                <a:latin typeface="Georgia"/>
              </a:rPr>
              <a:t>Compare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3A40FB-60B7-CB43-DCDD-6DC1022BC134}"/>
              </a:ext>
            </a:extLst>
          </p:cNvPr>
          <p:cNvSpPr txBox="1"/>
          <p:nvPr/>
        </p:nvSpPr>
        <p:spPr>
          <a:xfrm>
            <a:off x="6537960" y="3794760"/>
            <a:ext cx="233172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0" i="0" dirty="0">
                <a:solidFill>
                  <a:srgbClr val="555555"/>
                </a:solidFill>
                <a:latin typeface="Calibri"/>
              </a:rPr>
              <a:t>Model vs. keyword baseline; error analysis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03B8B-67F4-9339-3A2B-94C426BA4DAA}"/>
              </a:ext>
            </a:extLst>
          </p:cNvPr>
          <p:cNvSpPr txBox="1"/>
          <p:nvPr/>
        </p:nvSpPr>
        <p:spPr>
          <a:xfrm>
            <a:off x="9372600" y="2560320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200" b="1" i="1">
                <a:solidFill>
                  <a:srgbClr val="C2553D"/>
                </a:solidFill>
                <a:latin typeface="Georgia"/>
              </a:rPr>
              <a:t>04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749BB3-C29A-FB21-9FBC-A768812DAA08}"/>
              </a:ext>
            </a:extLst>
          </p:cNvPr>
          <p:cNvSpPr txBox="1"/>
          <p:nvPr/>
        </p:nvSpPr>
        <p:spPr>
          <a:xfrm>
            <a:off x="9372600" y="3246120"/>
            <a:ext cx="24688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000" b="1" i="0" dirty="0">
                <a:solidFill>
                  <a:srgbClr val="0B3B44"/>
                </a:solidFill>
                <a:latin typeface="Georgia"/>
              </a:rPr>
              <a:t>Re-analyze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E18069-7A66-459C-EA09-76F7CCA0DE84}"/>
              </a:ext>
            </a:extLst>
          </p:cNvPr>
          <p:cNvSpPr txBox="1"/>
          <p:nvPr/>
        </p:nvSpPr>
        <p:spPr>
          <a:xfrm>
            <a:off x="9372600" y="3794760"/>
            <a:ext cx="233172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0" i="0" dirty="0">
                <a:solidFill>
                  <a:srgbClr val="555555"/>
                </a:solidFill>
                <a:latin typeface="Calibri"/>
              </a:rPr>
              <a:t>Disparity analysis with model labels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0494FC-73B9-0EB7-9278-C74BFD00ECEC}"/>
              </a:ext>
            </a:extLst>
          </p:cNvPr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0" i="1" dirty="0">
                <a:solidFill>
                  <a:srgbClr val="0B3B44"/>
                </a:solidFill>
                <a:latin typeface="Georgia"/>
              </a:rPr>
              <a:t>Matlin and Brianna will collaborate on every step.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C77BBD-39BF-2A8B-6E2D-6EC06A7994B2}"/>
              </a:ext>
            </a:extLst>
          </p:cNvPr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 dirty="0">
                <a:solidFill>
                  <a:srgbClr val="0B3B44"/>
                </a:solidFill>
                <a:latin typeface="Calibri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886902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C0CC8C-52E7-4A7F-9A9B-2EAFF6B7D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549050-0193-ECBE-2CDA-B4A9002FD630}"/>
              </a:ext>
            </a:extLst>
          </p:cNvPr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27C124-DDA0-36C9-3CB7-AC24157E1680}"/>
              </a:ext>
            </a:extLst>
          </p:cNvPr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C9B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4FB04-25B6-6789-8E92-D6156B34FADC}"/>
              </a:ext>
            </a:extLst>
          </p:cNvPr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0" i="1">
                <a:solidFill>
                  <a:srgbClr val="555555"/>
                </a:solidFill>
                <a:latin typeface="Calibri"/>
              </a:rPr>
              <a:t>Housing Documentation in SMI Discharge Summaries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F0CFC-AB41-C2E9-6A3F-91383803F004}"/>
              </a:ext>
            </a:extLst>
          </p:cNvPr>
          <p:cNvSpPr txBox="1"/>
          <p:nvPr/>
        </p:nvSpPr>
        <p:spPr>
          <a:xfrm>
            <a:off x="10515600" y="6473952"/>
            <a:ext cx="109728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0B3B44"/>
                </a:solidFill>
                <a:latin typeface="Calibri"/>
              </a:rPr>
              <a:t>1</a:t>
            </a:r>
            <a:r>
              <a:rPr lang="en-US" sz="900" b="1" i="0" dirty="0">
                <a:solidFill>
                  <a:srgbClr val="0B3B44"/>
                </a:solidFill>
                <a:latin typeface="Calibri"/>
              </a:rPr>
              <a:t>6</a:t>
            </a:r>
            <a:r>
              <a:rPr sz="900" b="1" i="0" dirty="0">
                <a:solidFill>
                  <a:srgbClr val="0B3B44"/>
                </a:solidFill>
                <a:latin typeface="Calibri"/>
              </a:rPr>
              <a:t> / 1</a:t>
            </a:r>
            <a:r>
              <a:rPr lang="en-US" sz="900" b="1" dirty="0">
                <a:solidFill>
                  <a:srgbClr val="0B3B44"/>
                </a:solidFill>
                <a:latin typeface="Calibri"/>
              </a:rPr>
              <a:t>7</a:t>
            </a:r>
            <a:endParaRPr sz="900" b="1" i="0" dirty="0">
              <a:solidFill>
                <a:srgbClr val="0B3B44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BA3893-6310-24C7-34B5-93AE7A855DB5}"/>
              </a:ext>
            </a:extLst>
          </p:cNvPr>
          <p:cNvSpPr/>
          <p:nvPr/>
        </p:nvSpPr>
        <p:spPr>
          <a:xfrm>
            <a:off x="658368" y="1627632"/>
            <a:ext cx="548640" cy="54864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130EB-00AE-86F8-D328-C22E95B73E26}"/>
              </a:ext>
            </a:extLst>
          </p:cNvPr>
          <p:cNvSpPr txBox="1"/>
          <p:nvPr/>
        </p:nvSpPr>
        <p:spPr>
          <a:xfrm>
            <a:off x="640080" y="868680"/>
            <a:ext cx="1115568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 i="0" dirty="0">
                <a:solidFill>
                  <a:srgbClr val="0B3B44"/>
                </a:solidFill>
                <a:latin typeface="Georgia"/>
              </a:rPr>
              <a:t>Future considerations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80E3A-2F47-AA41-1132-3D99E0C76755}"/>
              </a:ext>
            </a:extLst>
          </p:cNvPr>
          <p:cNvSpPr txBox="1"/>
          <p:nvPr/>
        </p:nvSpPr>
        <p:spPr>
          <a:xfrm>
            <a:off x="640080" y="2103120"/>
            <a:ext cx="365760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1000" b="1" i="0" spc="300" dirty="0">
                <a:solidFill>
                  <a:srgbClr val="C2553D"/>
                </a:solidFill>
                <a:latin typeface="Calibri"/>
              </a:rPr>
              <a:t>WHAT</a:t>
            </a:r>
            <a:r>
              <a:rPr sz="1000" b="1" i="0" spc="300" dirty="0">
                <a:solidFill>
                  <a:srgbClr val="C2553D"/>
                </a:solidFill>
                <a:latin typeface="Calibri"/>
              </a:rPr>
              <a:t> WE'RE </a:t>
            </a:r>
            <a:r>
              <a:rPr lang="en-US" sz="1000" b="1" i="0" spc="300" dirty="0">
                <a:solidFill>
                  <a:srgbClr val="C2553D"/>
                </a:solidFill>
                <a:latin typeface="Calibri"/>
              </a:rPr>
              <a:t>PLANNING</a:t>
            </a:r>
            <a:endParaRPr sz="1000" b="1" i="0" spc="300" dirty="0">
              <a:solidFill>
                <a:srgbClr val="C2553D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C8B5B2-74EF-D061-F005-CD204C33E117}"/>
              </a:ext>
            </a:extLst>
          </p:cNvPr>
          <p:cNvSpPr txBox="1"/>
          <p:nvPr/>
        </p:nvSpPr>
        <p:spPr>
          <a:xfrm>
            <a:off x="640080" y="3154680"/>
            <a:ext cx="36576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ClinicalBERT, fine-tuned on MIMIC-III-SDOH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Keyword search retained as baseline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0B3B44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Evaluation against held-out MIMIC-III-SDOH sentences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ADB6C3-C60C-1786-9B28-B5556A604217}"/>
              </a:ext>
            </a:extLst>
          </p:cNvPr>
          <p:cNvSpPr txBox="1"/>
          <p:nvPr/>
        </p:nvSpPr>
        <p:spPr>
          <a:xfrm>
            <a:off x="640080" y="237744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000" b="1" i="0" dirty="0">
                <a:solidFill>
                  <a:srgbClr val="0B3B44"/>
                </a:solidFill>
                <a:latin typeface="Georgia"/>
              </a:rPr>
              <a:t>Approach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23FAF-74B8-5ADF-4D5A-94256C799A9F}"/>
              </a:ext>
            </a:extLst>
          </p:cNvPr>
          <p:cNvSpPr txBox="1"/>
          <p:nvPr/>
        </p:nvSpPr>
        <p:spPr>
          <a:xfrm>
            <a:off x="4572000" y="2103120"/>
            <a:ext cx="365760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 dirty="0">
                <a:solidFill>
                  <a:srgbClr val="C2553D"/>
                </a:solidFill>
                <a:latin typeface="Calibri"/>
              </a:rPr>
              <a:t>WHA</a:t>
            </a:r>
            <a:r>
              <a:rPr lang="en-US" sz="1000" b="1" i="0" spc="300" dirty="0">
                <a:solidFill>
                  <a:srgbClr val="C2553D"/>
                </a:solidFill>
                <a:latin typeface="Calibri"/>
              </a:rPr>
              <a:t>T’S ON OUR MINDS</a:t>
            </a:r>
            <a:endParaRPr sz="1000" b="1" i="0" spc="300" dirty="0">
              <a:solidFill>
                <a:srgbClr val="C2553D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DE28B5-58CE-A84C-E6F5-969641904EF4}"/>
              </a:ext>
            </a:extLst>
          </p:cNvPr>
          <p:cNvSpPr txBox="1"/>
          <p:nvPr/>
        </p:nvSpPr>
        <p:spPr>
          <a:xfrm>
            <a:off x="4572000" y="2377440"/>
            <a:ext cx="36576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2000" b="1" i="0" dirty="0">
                <a:solidFill>
                  <a:srgbClr val="0B3B44"/>
                </a:solidFill>
                <a:latin typeface="Georgia"/>
              </a:rPr>
              <a:t>Potential Challenges</a:t>
            </a:r>
            <a:endParaRPr sz="2000" b="1" i="0" dirty="0">
              <a:solidFill>
                <a:srgbClr val="0B3B44"/>
              </a:solidFill>
              <a:latin typeface="Georgi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8E0E96-75AD-CDA8-5C6F-F39EB1370156}"/>
              </a:ext>
            </a:extLst>
          </p:cNvPr>
          <p:cNvSpPr/>
          <p:nvPr/>
        </p:nvSpPr>
        <p:spPr>
          <a:xfrm>
            <a:off x="640080" y="3017520"/>
            <a:ext cx="274320" cy="36576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E31B89-BF1E-A691-F293-4E137EC06185}"/>
              </a:ext>
            </a:extLst>
          </p:cNvPr>
          <p:cNvSpPr/>
          <p:nvPr/>
        </p:nvSpPr>
        <p:spPr>
          <a:xfrm>
            <a:off x="4572000" y="3017520"/>
            <a:ext cx="274320" cy="36576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B1C755-0A04-64FE-9D20-8863ADCC5C7D}"/>
              </a:ext>
            </a:extLst>
          </p:cNvPr>
          <p:cNvSpPr txBox="1"/>
          <p:nvPr/>
        </p:nvSpPr>
        <p:spPr>
          <a:xfrm>
            <a:off x="4572000" y="3154680"/>
            <a:ext cx="3657600" cy="11101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Domain shift: training on isolated sentences, applying to full multi-page discharge notes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How to aggregate sentence-level predictions into a note-level yes/no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B87F7A-36E8-1403-3D9E-6238CDA499A6}"/>
              </a:ext>
            </a:extLst>
          </p:cNvPr>
          <p:cNvSpPr txBox="1"/>
          <p:nvPr/>
        </p:nvSpPr>
        <p:spPr>
          <a:xfrm>
            <a:off x="8503920" y="210312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 spc="300" dirty="0">
                <a:solidFill>
                  <a:srgbClr val="C2553D"/>
                </a:solidFill>
                <a:latin typeface="Calibri"/>
              </a:rPr>
              <a:t>WE'D LOVE YOUR INPUT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5AC82-613D-834E-573A-88C013E55597}"/>
              </a:ext>
            </a:extLst>
          </p:cNvPr>
          <p:cNvSpPr txBox="1"/>
          <p:nvPr/>
        </p:nvSpPr>
        <p:spPr>
          <a:xfrm>
            <a:off x="8503920" y="237744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000" b="1" i="0" dirty="0">
                <a:solidFill>
                  <a:srgbClr val="0B3B44"/>
                </a:solidFill>
                <a:latin typeface="Georgia"/>
              </a:rPr>
              <a:t>For our TF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4993FE-E7F1-5701-5CB7-2B307CD4E6C7}"/>
              </a:ext>
            </a:extLst>
          </p:cNvPr>
          <p:cNvSpPr/>
          <p:nvPr/>
        </p:nvSpPr>
        <p:spPr>
          <a:xfrm>
            <a:off x="8503920" y="3017520"/>
            <a:ext cx="274320" cy="36576"/>
          </a:xfrm>
          <a:prstGeom prst="rect">
            <a:avLst/>
          </a:prstGeom>
          <a:solidFill>
            <a:srgbClr val="0B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0FB819-A2AB-9E44-96E3-C83430045CA1}"/>
              </a:ext>
            </a:extLst>
          </p:cNvPr>
          <p:cNvSpPr txBox="1"/>
          <p:nvPr/>
        </p:nvSpPr>
        <p:spPr>
          <a:xfrm>
            <a:off x="8503920" y="3154680"/>
            <a:ext cx="3657600" cy="87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We're both 209B students, so we need to incorporate a</a:t>
            </a:r>
            <a:r>
              <a:rPr lang="en-US" sz="1200" dirty="0">
                <a:solidFill>
                  <a:srgbClr val="1A1A1A"/>
                </a:solidFill>
                <a:latin typeface="Calibri"/>
              </a:rPr>
              <a:t>n approach or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method not covered in class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 dirty="0">
                <a:solidFill>
                  <a:srgbClr val="0B3B44"/>
                </a:solidFill>
                <a:latin typeface="Calibri"/>
              </a:rPr>
              <a:t>▪ 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Any </a:t>
            </a:r>
            <a:r>
              <a:rPr lang="en-US" sz="1200" dirty="0">
                <a:solidFill>
                  <a:srgbClr val="1A1A1A"/>
                </a:solidFill>
                <a:latin typeface="Calibri"/>
              </a:rPr>
              <a:t>approaches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or methods you'd recommend?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D97B37-0911-555C-6AFD-934661A63727}"/>
              </a:ext>
            </a:extLst>
          </p:cNvPr>
          <p:cNvSpPr txBox="1"/>
          <p:nvPr/>
        </p:nvSpPr>
        <p:spPr>
          <a:xfrm>
            <a:off x="6858000" y="4114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 i="0" spc="300" dirty="0">
                <a:solidFill>
                  <a:srgbClr val="0B3B44"/>
                </a:solidFill>
                <a:latin typeface="Calibri"/>
              </a:rPr>
              <a:t>LOOKING AHEAD</a:t>
            </a:r>
          </a:p>
        </p:txBody>
      </p:sp>
    </p:spTree>
    <p:extLst>
      <p:ext uri="{BB962C8B-B14F-4D97-AF65-F5344CB8AC3E}">
        <p14:creationId xmlns:p14="http://schemas.microsoft.com/office/powerpoint/2010/main" val="1198251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2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 i="0" spc="400">
                <a:solidFill>
                  <a:srgbClr val="C2553D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400" b="1" i="1">
                <a:solidFill>
                  <a:srgbClr val="F6F1E6"/>
                </a:solidFill>
                <a:latin typeface="Georgia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2743200" cy="36576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0" i="1">
                <a:solidFill>
                  <a:srgbClr val="F6F1E6"/>
                </a:solidFill>
                <a:latin typeface="Georgia"/>
              </a:rPr>
              <a:t>Matlin Gilman   ·   Brianna Grissom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058400" cy="2369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0" i="0" dirty="0">
                <a:solidFill>
                  <a:srgbClr val="F6F1E6"/>
                </a:solidFill>
                <a:latin typeface="Calibri"/>
              </a:rPr>
              <a:t>Project #63   ·   AC209</a:t>
            </a:r>
            <a:r>
              <a:rPr lang="en-US" sz="1300" b="0" i="0" dirty="0">
                <a:solidFill>
                  <a:srgbClr val="F6F1E6"/>
                </a:solidFill>
                <a:latin typeface="Calibri"/>
              </a:rPr>
              <a:t>B  </a:t>
            </a:r>
            <a:r>
              <a:rPr sz="1300" b="0" i="0" dirty="0">
                <a:solidFill>
                  <a:srgbClr val="F6F1E6"/>
                </a:solidFill>
                <a:latin typeface="Calibri"/>
              </a:rPr>
              <a:t> ·   Milestone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1220</Words>
  <Application>Microsoft Macintosh PowerPoint</Application>
  <PresentationFormat>Widescreen</PresentationFormat>
  <Paragraphs>228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Gilman, Matlin</cp:lastModifiedBy>
  <cp:revision>9</cp:revision>
  <dcterms:created xsi:type="dcterms:W3CDTF">2013-01-27T09:14:16Z</dcterms:created>
  <dcterms:modified xsi:type="dcterms:W3CDTF">2026-04-10T02:51:17Z</dcterms:modified>
  <cp:category/>
</cp:coreProperties>
</file>