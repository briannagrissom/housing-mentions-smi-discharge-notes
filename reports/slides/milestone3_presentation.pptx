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85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0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83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7720"/>
            <a:ext cx="502920" cy="548640"/>
          </a:xfrm>
          <a:prstGeom prst="rect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AC209B   ·   MILESTONE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baselines, three answers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FC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housing mentions in SMI discharge summaries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· Inference · What we trust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187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#63   ·   Baseline Modeling &amp; Inference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3977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Matlin Gilman   ·   Brianna Grissom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3000" i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consistently is housing mentioned</a:t>
            </a:r>
            <a:endParaRPr lang="en-US" sz="3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3000" i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discharge summaries for patients</a:t>
            </a:r>
            <a:endParaRPr lang="en-US" sz="3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3000" i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hospitalized with serious mental illness?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9044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guidelines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should be assessed and documented at discharge for patients with serious mental illness.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46120" y="3703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39044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SMI cohort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4206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3,808 admissions with a primary SMI diagnosis (schizophrenia, bipolar, severe MDD).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3703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39044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Sentence-level classifier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4206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labeled sentences, apply to full discharge notes, aggregate to a per-note flag.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data: MIMIC-III labeled SDOH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MIMIC-III-SDOH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hand-labeled set of 1,800 clinical sentences released alongside MIMIC-III, each tagged for the social determinant of health (SDOH) it discusses — housing, food, employment, isolation, etc.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 as our supervised training set: it gives us ground-truth housing labels at the sentence level.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37760" y="1325880"/>
            <a:ext cx="3749040" cy="1078992"/>
          </a:xfrm>
          <a:prstGeom prst="rect">
            <a:avLst/>
          </a:prstGeom>
          <a:solidFill>
            <a:srgbClr val="ED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37760" y="1325880"/>
            <a:ext cx="73152" cy="1078992"/>
          </a:xfrm>
          <a:prstGeom prst="rect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66360" y="14173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166360" y="189280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sentences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21122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split for train / val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496312"/>
            <a:ext cx="3749040" cy="1078992"/>
          </a:xfrm>
          <a:prstGeom prst="rect">
            <a:avLst/>
          </a:prstGeom>
          <a:solidFill>
            <a:srgbClr val="ED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2496312"/>
            <a:ext cx="73152" cy="1078992"/>
          </a:xfrm>
          <a:prstGeom prst="rect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6360" y="25877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11.1%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166360" y="30632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sentences mention housing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32826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imbalanced — minority class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666744"/>
            <a:ext cx="3749040" cy="1078992"/>
          </a:xfrm>
          <a:prstGeom prst="rect">
            <a:avLst/>
          </a:prstGeom>
          <a:solidFill>
            <a:srgbClr val="ED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37760" y="3666744"/>
            <a:ext cx="73152" cy="1078992"/>
          </a:xfrm>
          <a:prstGeom prst="rect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66360" y="375818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MIMIC-III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166360" y="42336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database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44531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available, hand-labeled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1 — Keyword search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match on a curated list of 23 housing-related terms.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BASELINE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transparent, no training data needed. The natural floor for any ML model to beat.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homeless · shelter · street · evicted · housing instability · couch surfing · doubled up · unsheltered · …</a:t>
            </a:r>
            <a:endParaRPr lang="en-US" sz="1100" dirty="0"/>
          </a:p>
        </p:txBody>
      </p:sp>
      <p:pic>
        <p:nvPicPr>
          <p:cNvPr id="13" name="Image 0" descr="/home/claude/chart_images/cm_key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188720"/>
            <a:ext cx="2103120" cy="1783080"/>
          </a:xfrm>
          <a:prstGeom prst="rect">
            <a:avLst/>
          </a:prstGeom>
        </p:spPr>
      </p:pic>
      <p:pic>
        <p:nvPicPr>
          <p:cNvPr id="14" name="Image 1" descr="/home/claude/chart_images/perf_keywo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188720"/>
            <a:ext cx="2103120" cy="17830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17720" y="3154680"/>
            <a:ext cx="4251960" cy="1417320"/>
          </a:xfrm>
          <a:prstGeom prst="rect">
            <a:avLst/>
          </a:prstGeom>
          <a:solidFill>
            <a:srgbClr val="143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00600" y="3246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VALIDATION SET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800600" y="3474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the obvious cases — but misses 6 in 10 real housing mentions.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floor, not a ceiling. ML should beat this.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2 — TF-IDF + Random Forest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word-frequency vectors (unigrams + bigrams) fed to a tuned Random Forest classifier.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BASELINE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4414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non-trivial way to turn text into vectors. Class-weighted to handle the 11% positive rate.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3872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max 5,000 features, n-grams (1,2), English stop-words removed.</a:t>
            </a:r>
            <a:endParaRPr lang="en-US" sz="1100" dirty="0"/>
          </a:p>
        </p:txBody>
      </p:sp>
      <p:pic>
        <p:nvPicPr>
          <p:cNvPr id="13" name="Image 0" descr="/home/claude/chart_images/cm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188720"/>
            <a:ext cx="2103120" cy="1783080"/>
          </a:xfrm>
          <a:prstGeom prst="rect">
            <a:avLst/>
          </a:prstGeom>
        </p:spPr>
      </p:pic>
      <p:pic>
        <p:nvPicPr>
          <p:cNvPr id="14" name="Image 1" descr="/home/claude/chart_images/perf_r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188720"/>
            <a:ext cx="2103120" cy="17830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17720" y="3154680"/>
            <a:ext cx="4251960" cy="1417320"/>
          </a:xfrm>
          <a:prstGeom prst="rect">
            <a:avLst/>
          </a:prstGeom>
          <a:solidFill>
            <a:srgbClr val="143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00600" y="3246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VALIDATION SET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800600" y="3474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jump on the validation set — recall 0.80, F1 0.89.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Beats the keyword recall floor of 0.39 by 2x.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3 — Word2Vec + MLP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Word2Vec embeddings (trained on our SMI notes), averaged per sentence, classified by an MLP.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BASELINE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 word counts to semantic embeddings — words like "shelter" and "motel" land near each other in vector space.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72160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100-d Word2Vec → mean pool → MLP (100, 50). Threshold tuned on validation to 0.85.</a:t>
            </a:r>
            <a:endParaRPr lang="en-US" sz="1100" dirty="0"/>
          </a:p>
        </p:txBody>
      </p:sp>
      <p:pic>
        <p:nvPicPr>
          <p:cNvPr id="13" name="Image 0" descr="/home/claude/chart_images/cm_m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188720"/>
            <a:ext cx="2103120" cy="1783080"/>
          </a:xfrm>
          <a:prstGeom prst="rect">
            <a:avLst/>
          </a:prstGeom>
        </p:spPr>
      </p:pic>
      <p:pic>
        <p:nvPicPr>
          <p:cNvPr id="14" name="Image 1" descr="/home/claude/chart_images/perf_m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188720"/>
            <a:ext cx="2103120" cy="17830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17720" y="3154680"/>
            <a:ext cx="4251960" cy="1417320"/>
          </a:xfrm>
          <a:prstGeom prst="rect">
            <a:avLst/>
          </a:prstGeom>
          <a:solidFill>
            <a:srgbClr val="143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00600" y="3246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VALIDATION SET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800600" y="3474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validation performance — F1 0.83 at the tuned threshold.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Slightly lower precision than RF, but better at semantic generalization.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models, side by side</a:t>
            </a:r>
            <a:endParaRPr lang="en-US" sz="2600" dirty="0"/>
          </a:p>
        </p:txBody>
      </p:sp>
      <p:pic>
        <p:nvPicPr>
          <p:cNvPr id="7" name="Image 0" descr="/home/claude/chart_images/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669280" cy="3154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188720"/>
            <a:ext cx="2468880" cy="3154680"/>
          </a:xfrm>
          <a:prstGeom prst="rect">
            <a:avLst/>
          </a:prstGeom>
          <a:solidFill>
            <a:srgbClr val="ED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0" y="1188720"/>
            <a:ext cx="73152" cy="3154680"/>
          </a:xfrm>
          <a:prstGeom prst="rect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83680" y="1325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VALIDATION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8368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+ RF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836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0.89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0" y="2423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precision (1.00) and the highest F1 in the held-out validation split.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validation performance ≠ generalization. The next slides test that.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DATA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data: the MIMIC-IV SMI cohort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MIMIC-IV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Newer, larger critical-care database (~546k admissions). Discharge notes from MIMIC-IV-Note. The cohort: admissions whose primary diagnosis is schizophrenia, bipolar disorder, or severe / recurrent MDD.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guidelines say housing should be assessed and documented at discharge for SMI patients. We want to measure how often it actually is. This is our inference data — and it is unlabeled.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49240" y="1280160"/>
            <a:ext cx="3520440" cy="1005840"/>
          </a:xfrm>
          <a:prstGeom prst="rect">
            <a:avLst/>
          </a:prstGeom>
          <a:solidFill>
            <a:srgbClr val="143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77840" y="13258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3,808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57784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in our SMI cohort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24688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2697480"/>
            <a:ext cx="292608" cy="292608"/>
          </a:xfrm>
          <a:prstGeom prst="ellipse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4924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33288" y="267919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notes into sentences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49240" y="3154680"/>
            <a:ext cx="292608" cy="292608"/>
          </a:xfrm>
          <a:prstGeom prst="ellipse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4924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33288" y="313639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non-narrative sections (labs, meds, vitals, identifiers)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49240" y="3611880"/>
            <a:ext cx="292608" cy="292608"/>
          </a:xfrm>
          <a:prstGeom prst="ellipse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4924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33288" y="359359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narrative sections (HPI, Brief Hospital Course, Social Hx)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49240" y="4069080"/>
            <a:ext cx="292608" cy="292608"/>
          </a:xfrm>
          <a:prstGeom prst="ellipse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4924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33288" y="405079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sentence-level predictions to a per-note flag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· BASELINE 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search on the SMI cohort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NOTES FLAGGED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50.9%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SMI discharge summaries contain a regex-matched housing keyword.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4023360" cy="914400"/>
          </a:xfrm>
          <a:prstGeom prst="rect">
            <a:avLst/>
          </a:prstGeom>
          <a:solidFill>
            <a:srgbClr val="ED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73152" cy="914400"/>
          </a:xfrm>
          <a:prstGeom prst="rect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CONCERN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overcounts via false positives: "street" can mean street clothes, "shelter" can be metaphorical.</a:t>
            </a:r>
            <a:endParaRPr lang="en-US" sz="1100" dirty="0"/>
          </a:p>
        </p:txBody>
      </p:sp>
      <p:pic>
        <p:nvPicPr>
          <p:cNvPr id="14" name="Image 0" descr="/home/claude/chart_images/keyword_fr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425196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· BASELINE 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+ Random Forest on the SMI cohort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NOTES FLAGGED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SMI discharge summaries flagged by the validation-best model.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2801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Implausibly low — and disagrees with the regex on 1,897 / 3,808 notes.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 TO GENERALIZE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251460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Bag-of-words, not semantics.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 aren't semantic — a synonym the regex never saw is a different feature, not a similar one.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mismatch.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MIMIC-III-SDOH sentences are short and synthetic; MIMIC-IV discharge sentences are messy, abbreviated, and variable in length.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4023360" cy="914400"/>
          </a:xfrm>
          <a:prstGeom prst="rect">
            <a:avLst/>
          </a:prstGeom>
          <a:solidFill>
            <a:srgbClr val="ED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73152" cy="9144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KEYWORD SEARCH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Disagrees with the regex on roughly half the cohort (1,897 notes).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· BASELINE 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Word2Vec + MLP on the SMI cohort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NOTES FLAGGED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83.2%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F1-tuned threshold of 0.85 — far above the keyword 50.9%.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2801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Generalizes better than RF — but probably over-flags.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251460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representation.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 let the model see synonyms the regex misses.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state-of-the-art.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vector = mean of word vectors, so "the" weighs as much as "homeless." Motivates ClinicalBERT, where attention learns which tokens matter.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4023360" cy="914400"/>
          </a:xfrm>
          <a:prstGeom prst="rect">
            <a:avLst/>
          </a:prstGeom>
          <a:solidFill>
            <a:srgbClr val="ED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73152" cy="914400"/>
          </a:xfrm>
          <a:prstGeom prst="rect">
            <a:avLst/>
          </a:prstGeom>
          <a:solidFill>
            <a:srgbClr val="84B5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training sentences look very different from MIMIC-IV discharge sentences — model is operating off-distribution.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COMPARISON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models, three different answers</a:t>
            </a:r>
            <a:endParaRPr lang="en-US" sz="2600" dirty="0"/>
          </a:p>
        </p:txBody>
      </p:sp>
      <p:pic>
        <p:nvPicPr>
          <p:cNvPr id="7" name="Image 0" descr="/home/claude/chart_images/smi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34924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9320" y="1188720"/>
            <a:ext cx="2880360" cy="3017520"/>
          </a:xfrm>
          <a:prstGeom prst="rect">
            <a:avLst/>
          </a:prstGeom>
          <a:solidFill>
            <a:srgbClr val="143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72200" y="13258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72200" y="1554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3,808 notes.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different answers.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172200" y="242316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barely flags anything (1.2%).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flags almost everything (83.2%).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DD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out-of-distribution. Neither is fully trustworthy on this cohort.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takeaways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9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11704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search is the most trustworthy baseline.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low, but its 50.9% rate is the most defensible estimate we have today.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9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51560" y="22677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+ RF doesn't generalize from MIMIC-III to MIMIC-IV.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validation (F1 0.89), but flags only 1.2% of the cohort — bag-of-words can't bridge the vocabulary gap.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9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51560" y="33649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Word2Vec + MLP over-flags despite a tuned threshold.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0.85 (vs default 0.5), the model fires on 83.2% of notes. Mean-pooled embeddings + class imbalance + distribution shift.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9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49240" y="11704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training imbalance compounds the problem.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6459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positive class. Oversampling and class-weighted loss help on validation, but don't fix off-distribution behavior.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9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49240" y="22677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limits motivate ClinicalBERT next.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2743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attention + pretrained clinical text — the right tool for sentences this messy.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274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C9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C9B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Documentation in SMI Discharge Summaries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18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Milestone 4 goes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075688" cy="1783080"/>
          </a:xfrm>
          <a:prstGeom prst="rect">
            <a:avLst/>
          </a:prstGeom>
          <a:solidFill>
            <a:srgbClr val="ED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075688" cy="54864"/>
          </a:xfrm>
          <a:prstGeom prst="rect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9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Fine-tune ClinicalBERT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loss, F1-tuned threshold.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24328" y="1325880"/>
            <a:ext cx="2075688" cy="1783080"/>
          </a:xfrm>
          <a:prstGeom prst="rect">
            <a:avLst/>
          </a:prstGeom>
          <a:solidFill>
            <a:srgbClr val="ED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24328" y="1325880"/>
            <a:ext cx="2075688" cy="54864"/>
          </a:xfrm>
          <a:prstGeom prst="rect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07208" y="150876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9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807208" y="196596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Re-run subgroup analysis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07208" y="24688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 MS2 breakdowns (race, insurance, gender, diagnosis).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91456" y="1325880"/>
            <a:ext cx="2075688" cy="1783080"/>
          </a:xfrm>
          <a:prstGeom prst="rect">
            <a:avLst/>
          </a:prstGeom>
          <a:solidFill>
            <a:srgbClr val="ED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91456" y="1325880"/>
            <a:ext cx="2075688" cy="54864"/>
          </a:xfrm>
          <a:prstGeom prst="rect">
            <a:avLst/>
          </a:prstGeom>
          <a:solidFill>
            <a:srgbClr val="C947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74336" y="150876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9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74336" y="196596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</a:t>
            </a:r>
            <a:r>
              <a:rPr lang="en-US" sz="1400" b="1" dirty="0" err="1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ClinicalBERT</a:t>
            </a:r>
            <a:r>
              <a:rPr lang="en-US" sz="1400" b="1" dirty="0">
                <a:solidFill>
                  <a:srgbClr val="143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vs baseline models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74336" y="24688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on the same notes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412480" cy="1188720"/>
          </a:xfrm>
          <a:prstGeom prst="rect">
            <a:avLst/>
          </a:prstGeom>
          <a:solidFill>
            <a:srgbClr val="143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520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794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4008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Matlin Gilman   ·   Brianna Grissom    |    Project #63   ·   AC209B   ·   Milestone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1332</Words>
  <Application>Microsoft Macintosh PowerPoint</Application>
  <PresentationFormat>On-screen Show (16:9)</PresentationFormat>
  <Paragraphs>217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3 — Housing Documentation in SMI Discharge Summaries</dc:title>
  <dc:subject>PptxGenJS Presentation</dc:subject>
  <dc:creator>Matlin Gilman &amp; Brianna Grissom</dc:creator>
  <cp:lastModifiedBy>Gilman, Matlin</cp:lastModifiedBy>
  <cp:revision>2</cp:revision>
  <dcterms:created xsi:type="dcterms:W3CDTF">2026-04-25T01:47:00Z</dcterms:created>
  <dcterms:modified xsi:type="dcterms:W3CDTF">2026-04-25T01:56:07Z</dcterms:modified>
</cp:coreProperties>
</file>